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-1005840"/>
            <a:ext cx="4572000" cy="4572000"/>
          </a:xfrm>
          <a:prstGeom prst="arc">
            <a:avLst/>
          </a:prstGeom>
          <a:noFill/>
          <a:ln w="15240">
            <a:solidFill>
              <a:srgbClr val="8EF0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1371600"/>
            <a:ext cx="5120640" cy="5120640"/>
          </a:xfrm>
          <a:prstGeom prst="arc">
            <a:avLst/>
          </a:prstGeom>
          <a:noFill/>
          <a:ln w="12700">
            <a:solidFill>
              <a:srgbClr val="C2FF66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MISSION CONTROL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0" y="3108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D7E91"/>
                </a:solidFill>
              </a:rPr>
              <a:t>AI Software Execution Operating System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30352" y="749808"/>
            <a:ext cx="1417320" cy="301752"/>
          </a:xfrm>
          <a:prstGeom prst="roundRect">
            <a:avLst>
              <a:gd name="adj" fmla="val 24242"/>
            </a:avLst>
          </a:prstGeom>
          <a:solidFill>
            <a:srgbClr val="8EF0FF"/>
          </a:solidFill>
          <a:ln w="12700">
            <a:solidFill>
              <a:srgbClr val="8E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18388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11F"/>
                </a:solidFill>
              </a:rPr>
              <a:t>HACKATHON PITCH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71323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Codex Mission Control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530352" y="1847088"/>
            <a:ext cx="6858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Software Execution Operating System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487168"/>
            <a:ext cx="57607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Transforms raw software ideas into PRDs, technical designs, engineering plans, AI execution packs, architecture maps, risk models, and traceable execution workflows.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0B1727">
              <a:alpha val="97000"/>
            </a:srgbClr>
          </a:solidFill>
          <a:ln w="12700">
            <a:solidFill>
              <a:srgbClr val="8EF0FF">
                <a:alpha val="7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5138928"/>
            <a:ext cx="213969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8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13232" y="5605272"/>
            <a:ext cx="21396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OUTPUTS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498348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0B1727">
              <a:alpha val="97000"/>
            </a:srgbClr>
          </a:solidFill>
          <a:ln w="12700">
            <a:solidFill>
              <a:srgbClr val="C2FF66">
                <a:alpha val="7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5138928"/>
            <a:ext cx="213969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C2F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3410712" y="5605272"/>
            <a:ext cx="21396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SYSTEM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0" y="498348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0B1727">
              <a:alpha val="97000"/>
            </a:srgbClr>
          </a:solidFill>
          <a:ln w="12700">
            <a:solidFill>
              <a:srgbClr val="FDE68A">
                <a:alpha val="7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08192" y="5138928"/>
            <a:ext cx="213969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DE6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108192" y="5605272"/>
            <a:ext cx="21396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CODEX-READY CONTEXT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955280" y="1234440"/>
            <a:ext cx="3108960" cy="3108960"/>
          </a:xfrm>
          <a:prstGeom prst="ellipse">
            <a:avLst/>
          </a:prstGeom>
          <a:solidFill>
            <a:srgbClr val="0B1727">
              <a:alpha val="97000"/>
            </a:srgbClr>
          </a:solidFill>
          <a:ln w="19050">
            <a:solidFill>
              <a:srgbClr val="8EF0FF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1691640"/>
            <a:ext cx="2194560" cy="2194560"/>
          </a:xfrm>
          <a:prstGeom prst="ellipse">
            <a:avLst/>
          </a:prstGeom>
          <a:solidFill>
            <a:srgbClr val="10233A">
              <a:alpha val="92000"/>
            </a:srgbClr>
          </a:solidFill>
          <a:ln w="12700">
            <a:solidFill>
              <a:srgbClr val="C2FF66">
                <a:alpha val="6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18120" y="4663440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8EF0FF"/>
          </a:solidFill>
          <a:ln w="12700">
            <a:solidFill>
              <a:srgbClr val="8EF0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4732020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11F"/>
                </a:solidFill>
              </a:rPr>
              <a:t>PRD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921240" y="4663440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C2FF66"/>
          </a:solidFill>
          <a:ln w="12700">
            <a:solidFill>
              <a:srgbClr val="C2FF6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21240" y="4732020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11F"/>
                </a:solidFill>
              </a:rPr>
              <a:t>TDD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818120" y="5193792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120" y="5262372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11F"/>
                </a:solidFill>
              </a:rPr>
              <a:t>PLAN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921240" y="5193792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FDE68A"/>
          </a:solidFill>
          <a:ln w="12700">
            <a:solidFill>
              <a:srgbClr val="FDE68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21240" y="5262372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11F"/>
                </a:solidFill>
              </a:rPr>
              <a:t>AI PACK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818120" y="5897880"/>
            <a:ext cx="3566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the Codex Community Hackathon Pune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-1005840"/>
            <a:ext cx="4572000" cy="4572000"/>
          </a:xfrm>
          <a:prstGeom prst="arc">
            <a:avLst/>
          </a:prstGeom>
          <a:noFill/>
          <a:ln w="15240">
            <a:solidFill>
              <a:srgbClr val="8EF0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1371600"/>
            <a:ext cx="5120640" cy="5120640"/>
          </a:xfrm>
          <a:prstGeom prst="arc">
            <a:avLst/>
          </a:prstGeom>
          <a:noFill/>
          <a:ln w="12700">
            <a:solidFill>
              <a:srgbClr val="C2FF66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MISSION CONTROL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real gap is not code. It is execution context.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0" y="3108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D7E91"/>
                </a:solidFill>
              </a:rPr>
              <a:t>AI Software Execution Operating System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FDA4AF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19072"/>
            <a:ext cx="3108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DA4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AI workflow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448056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C3CF"/>
                </a:solidFill>
              </a:rPr>
              <a:t>• Ideas become long chat threads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CF"/>
                </a:solidFill>
              </a:rPr>
              <a:t>• Requirements, architecture, risks and decisions drift apart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CF"/>
                </a:solidFill>
              </a:rPr>
              <a:t>• Teams copy/paste context into docs, tickets and AI tools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CF"/>
                </a:solidFill>
              </a:rPr>
              <a:t>• No clear trace from goal to task to decision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8EF0FF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719072"/>
            <a:ext cx="3291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teams need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240280"/>
            <a:ext cx="448056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C3CF"/>
                </a:solidFill>
              </a:rPr>
              <a:t>• A system of record between idea and execution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CF"/>
                </a:solidFill>
              </a:rPr>
              <a:t>• Production-ready documents, not raw AI text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CF"/>
                </a:solidFill>
              </a:rPr>
              <a:t>• Visual traceability across goals, risks and architecture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3CF"/>
                </a:solidFill>
              </a:rPr>
              <a:t>• Reusable context for Codex and other execution agents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40680" y="3611880"/>
            <a:ext cx="960120" cy="0"/>
          </a:xfrm>
          <a:prstGeom prst="line">
            <a:avLst/>
          </a:prstGeom>
          <a:noFill/>
          <a:ln w="15875">
            <a:solidFill>
              <a:srgbClr val="C2FF66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011680" y="6172200"/>
            <a:ext cx="8229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F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Control turns scattered thinking into execution intelligence.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-1005840"/>
            <a:ext cx="4572000" cy="4572000"/>
          </a:xfrm>
          <a:prstGeom prst="arc">
            <a:avLst/>
          </a:prstGeom>
          <a:noFill/>
          <a:ln w="15240">
            <a:solidFill>
              <a:srgbClr val="8EF0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1371600"/>
            <a:ext cx="5120640" cy="5120640"/>
          </a:xfrm>
          <a:prstGeom prst="arc">
            <a:avLst/>
          </a:prstGeom>
          <a:noFill/>
          <a:ln w="12700">
            <a:solidFill>
              <a:srgbClr val="C2FF66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MISSION CONTROL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Solution: an AI execution control plane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0" y="3108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D7E91"/>
                </a:solidFill>
              </a:rPr>
              <a:t>AI Software Execution Operating System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107899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Mission Control is not another code generator. It is the operating layer that converts software intent into structured, explainable, reusable execution knowledge.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8EF0FF">
                <a:alpha val="6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889504"/>
            <a:ext cx="256032" cy="256032"/>
          </a:xfrm>
          <a:prstGeom prst="ellipse">
            <a:avLst/>
          </a:prstGeom>
          <a:solidFill>
            <a:srgbClr val="8EF0FF"/>
          </a:solidFill>
          <a:ln w="12700">
            <a:solidFill>
              <a:srgbClr val="8E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889504"/>
            <a:ext cx="12070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intake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3246120"/>
            <a:ext cx="1499616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Objective, repo context, constraints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2450592" y="3438144"/>
            <a:ext cx="365760" cy="0"/>
          </a:xfrm>
          <a:prstGeom prst="line">
            <a:avLst/>
          </a:prstGeom>
          <a:noFill/>
          <a:ln w="15875">
            <a:solidFill>
              <a:srgbClr val="8EF0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80360" y="27432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7DD3FC">
                <a:alpha val="6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26664" y="2889504"/>
            <a:ext cx="256032" cy="25603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889504"/>
            <a:ext cx="12070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plan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44952" y="3246120"/>
            <a:ext cx="1499616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Tasks, owners, dependencies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4690872" y="3438144"/>
            <a:ext cx="365760" cy="0"/>
          </a:xfrm>
          <a:prstGeom prst="line">
            <a:avLst/>
          </a:prstGeom>
          <a:noFill/>
          <a:ln w="15875">
            <a:solidFill>
              <a:srgbClr val="8EF0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20640" y="27432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C2FF66">
                <a:alpha val="6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66944" y="2889504"/>
            <a:ext cx="256032" cy="256032"/>
          </a:xfrm>
          <a:prstGeom prst="ellipse">
            <a:avLst/>
          </a:prstGeom>
          <a:solidFill>
            <a:srgbClr val="C2FF66"/>
          </a:solidFill>
          <a:ln w="12700">
            <a:solidFill>
              <a:srgbClr val="C2FF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2889504"/>
            <a:ext cx="12070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 pass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85232" y="3246120"/>
            <a:ext cx="1499616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Artifacts, logs, risks, summary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6931152" y="3438144"/>
            <a:ext cx="365760" cy="0"/>
          </a:xfrm>
          <a:prstGeom prst="line">
            <a:avLst/>
          </a:prstGeom>
          <a:noFill/>
          <a:ln w="15875">
            <a:solidFill>
              <a:srgbClr val="8EF0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60920" y="27432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FDE68A">
                <a:alpha val="6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7224" y="2889504"/>
            <a:ext cx="256032" cy="25603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2889504"/>
            <a:ext cx="12070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studio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525512" y="3246120"/>
            <a:ext cx="1499616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PRD, TDD, engineering plan, AI pack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9171432" y="3438144"/>
            <a:ext cx="365760" cy="0"/>
          </a:xfrm>
          <a:prstGeom prst="line">
            <a:avLst/>
          </a:prstGeom>
          <a:noFill/>
          <a:ln w="15875">
            <a:solidFill>
              <a:srgbClr val="8EF0F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01200" y="27432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C4B5FD">
                <a:alpha val="6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47504" y="2889504"/>
            <a:ext cx="256032" cy="256032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04120" y="2889504"/>
            <a:ext cx="12070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765792" y="3246120"/>
            <a:ext cx="1499616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to requirement to task to risk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1005840" y="5349240"/>
            <a:ext cx="10149840" cy="713232"/>
          </a:xfrm>
          <a:prstGeom prst="roundRect">
            <a:avLst>
              <a:gd name="adj" fmla="val 10256"/>
            </a:avLst>
          </a:prstGeom>
          <a:solidFill>
            <a:srgbClr val="10233A">
              <a:alpha val="97000"/>
            </a:srgbClr>
          </a:solidFill>
          <a:ln w="12700">
            <a:solidFill>
              <a:srgbClr val="8EF0FF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34440" y="5559552"/>
            <a:ext cx="9692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a mission becomes a living execution system that humans and AI tools can both understand.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-1005840"/>
            <a:ext cx="4572000" cy="4572000"/>
          </a:xfrm>
          <a:prstGeom prst="arc">
            <a:avLst/>
          </a:prstGeom>
          <a:noFill/>
          <a:ln w="15240">
            <a:solidFill>
              <a:srgbClr val="8EF0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1371600"/>
            <a:ext cx="5120640" cy="5120640"/>
          </a:xfrm>
          <a:prstGeom prst="arc">
            <a:avLst/>
          </a:prstGeom>
          <a:noFill/>
          <a:ln w="12700">
            <a:solidFill>
              <a:srgbClr val="C2FF66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MISSION CONTROL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proof: one mission produces four handoff artifacts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0" y="3108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D7E91"/>
                </a:solidFill>
              </a:rPr>
              <a:t>AI Software Execution Operating System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4892040" cy="1444752"/>
          </a:xfrm>
          <a:prstGeom prst="roundRect">
            <a:avLst>
              <a:gd name="adj" fmla="val 5063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8EF0FF">
                <a:alpha val="7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18488"/>
            <a:ext cx="4206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075688"/>
            <a:ext cx="4251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Executive-ready product requirements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1005840" y="2441448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C2FF66"/>
          </a:solidFill>
          <a:ln w="12700">
            <a:solidFill>
              <a:srgbClr val="C2FF6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10028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11F"/>
                </a:solidFill>
              </a:rPr>
              <a:t>Saved locally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4892040" cy="1444752"/>
          </a:xfrm>
          <a:prstGeom prst="roundRect">
            <a:avLst>
              <a:gd name="adj" fmla="val 5063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C2FF66">
                <a:alpha val="7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618488"/>
            <a:ext cx="4206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2F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Design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2075688"/>
            <a:ext cx="4251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Engineer-ready architecture and data flow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492240" y="2441448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C2FF66"/>
          </a:solidFill>
          <a:ln w="12700">
            <a:solidFill>
              <a:srgbClr val="C2FF6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510028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11F"/>
                </a:solidFill>
              </a:rPr>
              <a:t>Saved locally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31520" y="3383280"/>
            <a:ext cx="4892040" cy="1444752"/>
          </a:xfrm>
          <a:prstGeom prst="roundRect">
            <a:avLst>
              <a:gd name="adj" fmla="val 5063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7DD3FC">
                <a:alpha val="7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584448"/>
            <a:ext cx="4206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Plan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05840" y="4041648"/>
            <a:ext cx="4251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Sprint-ready epics, stories and estimates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1005840" y="4407408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C2FF66"/>
          </a:solidFill>
          <a:ln w="12700">
            <a:solidFill>
              <a:srgbClr val="C2FF6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475988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11F"/>
                </a:solidFill>
              </a:rPr>
              <a:t>Saved locally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217920" y="3383280"/>
            <a:ext cx="4892040" cy="1444752"/>
          </a:xfrm>
          <a:prstGeom prst="roundRect">
            <a:avLst>
              <a:gd name="adj" fmla="val 5063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FDE68A">
                <a:alpha val="7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584448"/>
            <a:ext cx="4206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DE6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Execution Pack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92240" y="4041648"/>
            <a:ext cx="4251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package for Codex/external tools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492240" y="4407408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C2FF66"/>
          </a:solidFill>
          <a:ln w="12700">
            <a:solidFill>
              <a:srgbClr val="C2FF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475988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11F"/>
                </a:solidFill>
              </a:rPr>
              <a:t>Saved locally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14400" y="5925312"/>
            <a:ext cx="10241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8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Caching is intentional: switching tabs does not regenerate documents. Regenerate is an explicit user action.</a:t>
            </a:r>
            <a:endParaRPr lang="en-US" sz="1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-1005840"/>
            <a:ext cx="4572000" cy="4572000"/>
          </a:xfrm>
          <a:prstGeom prst="arc">
            <a:avLst/>
          </a:prstGeom>
          <a:noFill/>
          <a:ln w="15240">
            <a:solidFill>
              <a:srgbClr val="8EF0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1371600"/>
            <a:ext cx="5120640" cy="5120640"/>
          </a:xfrm>
          <a:prstGeom prst="arc">
            <a:avLst/>
          </a:prstGeom>
          <a:noFill/>
          <a:ln w="12700">
            <a:solidFill>
              <a:srgbClr val="C2FF66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MISSION CONTROL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Traceability map: every task has a reason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0" y="3108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D7E91"/>
                </a:solidFill>
              </a:rPr>
              <a:t>AI Software Execution Operating System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8EF0FF">
                <a:alpha val="6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2752344"/>
            <a:ext cx="256032" cy="256032"/>
          </a:xfrm>
          <a:prstGeom prst="ellipse">
            <a:avLst/>
          </a:prstGeom>
          <a:solidFill>
            <a:srgbClr val="8EF0FF"/>
          </a:solidFill>
          <a:ln w="12700">
            <a:solidFill>
              <a:srgbClr val="8E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752344"/>
            <a:ext cx="12070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3108960"/>
            <a:ext cx="149961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execution-ready software mission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2971800" y="15087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C2FF66">
                <a:alpha val="6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18104" y="1655064"/>
            <a:ext cx="256032" cy="256032"/>
          </a:xfrm>
          <a:prstGeom prst="ellipse">
            <a:avLst/>
          </a:prstGeom>
          <a:solidFill>
            <a:srgbClr val="C2FF66"/>
          </a:solidFill>
          <a:ln w="12700">
            <a:solidFill>
              <a:srgbClr val="C2FF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655064"/>
            <a:ext cx="1389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36392" y="2011680"/>
            <a:ext cx="168249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be true for the product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5486400" y="15087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7DD3FC">
                <a:alpha val="6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32704" y="1655064"/>
            <a:ext cx="256032" cy="25603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655064"/>
            <a:ext cx="12984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50992" y="2011680"/>
            <a:ext cx="159105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execution step with owner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7955280" y="150876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FDE68A">
                <a:alpha val="6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01584" y="1655064"/>
            <a:ext cx="256032" cy="25603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1655064"/>
            <a:ext cx="14813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19872" y="2011680"/>
            <a:ext cx="17739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Affected system component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2971800" y="38862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FDA4AF">
                <a:alpha val="6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18104" y="4032504"/>
            <a:ext cx="256032" cy="256032"/>
          </a:xfrm>
          <a:prstGeom prst="ellipse">
            <a:avLst/>
          </a:prstGeom>
          <a:solidFill>
            <a:srgbClr val="FDA4AF"/>
          </a:solidFill>
          <a:ln w="12700">
            <a:solidFill>
              <a:srgbClr val="FDA4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4032504"/>
            <a:ext cx="1389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136392" y="4389120"/>
            <a:ext cx="168249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could break or mislead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5486400" y="38862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C4B5FD">
                <a:alpha val="6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32704" y="4032504"/>
            <a:ext cx="256032" cy="256032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4032504"/>
            <a:ext cx="12984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50992" y="4389120"/>
            <a:ext cx="159105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stack/design choice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7955280" y="38862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8EF0FF">
                <a:alpha val="6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01584" y="4032504"/>
            <a:ext cx="256032" cy="256032"/>
          </a:xfrm>
          <a:prstGeom prst="ellipse">
            <a:avLst/>
          </a:prstGeom>
          <a:solidFill>
            <a:srgbClr val="8EF0FF"/>
          </a:solidFill>
          <a:ln w="12700">
            <a:solidFill>
              <a:srgbClr val="8EF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58200" y="4032504"/>
            <a:ext cx="14813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19872" y="4389120"/>
            <a:ext cx="17739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PRD/TDD/Plan/AI Pack output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2468880" y="3072384"/>
            <a:ext cx="502920" cy="-1060704"/>
          </a:xfrm>
          <a:prstGeom prst="line">
            <a:avLst/>
          </a:prstGeom>
          <a:noFill/>
          <a:ln w="15875">
            <a:solidFill>
              <a:srgbClr val="8EF0F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983480" y="2011680"/>
            <a:ext cx="502920" cy="0"/>
          </a:xfrm>
          <a:prstGeom prst="line">
            <a:avLst/>
          </a:prstGeom>
          <a:noFill/>
          <a:ln w="15875">
            <a:solidFill>
              <a:srgbClr val="C2FF66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406640" y="2011680"/>
            <a:ext cx="548640" cy="0"/>
          </a:xfrm>
          <a:prstGeom prst="line">
            <a:avLst/>
          </a:prstGeom>
          <a:noFill/>
          <a:ln w="15875">
            <a:solidFill>
              <a:srgbClr val="7DD3FC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468880" y="3072384"/>
            <a:ext cx="502920" cy="1298448"/>
          </a:xfrm>
          <a:prstGeom prst="line">
            <a:avLst/>
          </a:prstGeom>
          <a:noFill/>
          <a:ln w="15875">
            <a:solidFill>
              <a:srgbClr val="FDA4AF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983480" y="4370832"/>
            <a:ext cx="502920" cy="0"/>
          </a:xfrm>
          <a:prstGeom prst="line">
            <a:avLst/>
          </a:prstGeom>
          <a:noFill/>
          <a:ln w="15875">
            <a:solidFill>
              <a:srgbClr val="C4B5FD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406640" y="4370832"/>
            <a:ext cx="548640" cy="0"/>
          </a:xfrm>
          <a:prstGeom prst="line">
            <a:avLst/>
          </a:prstGeom>
          <a:noFill/>
          <a:ln w="15875">
            <a:solidFill>
              <a:srgbClr val="8EF0FF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1280160" y="5989320"/>
            <a:ext cx="9784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2F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product moat: not just generating text, but preserving why work exists.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-1005840"/>
            <a:ext cx="4572000" cy="4572000"/>
          </a:xfrm>
          <a:prstGeom prst="arc">
            <a:avLst/>
          </a:prstGeom>
          <a:noFill/>
          <a:ln w="15240">
            <a:solidFill>
              <a:srgbClr val="8EF0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1371600"/>
            <a:ext cx="5120640" cy="5120640"/>
          </a:xfrm>
          <a:prstGeom prst="arc">
            <a:avLst/>
          </a:prstGeom>
          <a:noFill/>
          <a:ln w="12700">
            <a:solidFill>
              <a:srgbClr val="C2FF66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MISSION CONTROL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Architecture: cloud-style execution intelligence system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0" y="3108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D7E91"/>
                </a:solidFill>
              </a:rPr>
              <a:t>AI Software Execution Operating System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8EF0FF">
                <a:alpha val="6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2615184"/>
            <a:ext cx="256032" cy="256032"/>
          </a:xfrm>
          <a:prstGeom prst="ellipse">
            <a:avLst/>
          </a:prstGeom>
          <a:solidFill>
            <a:srgbClr val="8EF0FF"/>
          </a:solidFill>
          <a:ln w="12700">
            <a:solidFill>
              <a:srgbClr val="8E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15184"/>
            <a:ext cx="6583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7512" y="2971800"/>
            <a:ext cx="95097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Founders, PMs, engineers, agencies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2148840" y="24688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7DD3FC">
                <a:alpha val="6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95144" y="2615184"/>
            <a:ext cx="256032" cy="25603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615184"/>
            <a:ext cx="8412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13432" y="2971800"/>
            <a:ext cx="113385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CDN / WAF / routing boundary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069080" y="1298448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0A1A2E">
              <a:alpha val="97000"/>
            </a:srgbClr>
          </a:solidFill>
          <a:ln w="12700">
            <a:solidFill>
              <a:srgbClr val="C2FF66">
                <a:alpha val="7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536192"/>
            <a:ext cx="1828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F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VPC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19202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8EF0FF">
                <a:alpha val="6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35424" y="2066544"/>
            <a:ext cx="256032" cy="256032"/>
          </a:xfrm>
          <a:prstGeom prst="ellipse">
            <a:avLst/>
          </a:prstGeom>
          <a:solidFill>
            <a:srgbClr val="8EF0FF"/>
          </a:solidFill>
          <a:ln w="12700">
            <a:solidFill>
              <a:srgbClr val="8EF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066544"/>
            <a:ext cx="7955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53712" y="2423160"/>
            <a:ext cx="108813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dashboard + studio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172200" y="19202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7DD3FC">
                <a:alpha val="6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18504" y="2066544"/>
            <a:ext cx="256032" cy="25603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066544"/>
            <a:ext cx="7955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Server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36792" y="2423160"/>
            <a:ext cx="108813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+ orchestration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4389120" y="324612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FDE68A">
                <a:alpha val="6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35424" y="3392424"/>
            <a:ext cx="256032" cy="25603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392424"/>
            <a:ext cx="7955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53712" y="3749040"/>
            <a:ext cx="108813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/ intelligence pass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6172200" y="324612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C2FF66">
                <a:alpha val="6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18504" y="3392424"/>
            <a:ext cx="256032" cy="256032"/>
          </a:xfrm>
          <a:prstGeom prst="ellipse">
            <a:avLst/>
          </a:prstGeom>
          <a:solidFill>
            <a:srgbClr val="C2FF66"/>
          </a:solidFill>
          <a:ln w="12700">
            <a:solidFill>
              <a:srgbClr val="C2FF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3392424"/>
            <a:ext cx="7955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36792" y="3749040"/>
            <a:ext cx="108813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local docs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8321040" y="192024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C2FF66">
                <a:alpha val="6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67344" y="2066544"/>
            <a:ext cx="256032" cy="256032"/>
          </a:xfrm>
          <a:prstGeom prst="ellipse">
            <a:avLst/>
          </a:prstGeom>
          <a:solidFill>
            <a:srgbClr val="C2FF66"/>
          </a:solidFill>
          <a:ln w="12700">
            <a:solidFill>
              <a:srgbClr val="C2FF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23960" y="2066544"/>
            <a:ext cx="9326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DB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485632" y="2423160"/>
            <a:ext cx="122529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Missions, tasks, logs, decisions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10104120" y="192024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7DD3FC">
                <a:alpha val="6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50424" y="2066544"/>
            <a:ext cx="256032" cy="25603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07040" y="2066544"/>
            <a:ext cx="9326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Store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268712" y="2423160"/>
            <a:ext cx="122529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Exports and artifacts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8321040" y="33375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FDE68A">
                <a:alpha val="6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67344" y="3483864"/>
            <a:ext cx="256032" cy="25603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23960" y="3483864"/>
            <a:ext cx="9326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API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485632" y="3840480"/>
            <a:ext cx="122529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enrichment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10104120" y="33375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FDA4AF">
                <a:alpha val="6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250424" y="3483864"/>
            <a:ext cx="256032" cy="256032"/>
          </a:xfrm>
          <a:prstGeom prst="ellipse">
            <a:avLst/>
          </a:prstGeom>
          <a:solidFill>
            <a:srgbClr val="FDA4AF"/>
          </a:solidFill>
          <a:ln w="12700">
            <a:solidFill>
              <a:srgbClr val="FDA4A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607040" y="3483864"/>
            <a:ext cx="9326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268712" y="3840480"/>
            <a:ext cx="122529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Logs, risks, audit trail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1783080" y="2926080"/>
            <a:ext cx="365760" cy="0"/>
          </a:xfrm>
          <a:prstGeom prst="line">
            <a:avLst/>
          </a:prstGeom>
          <a:noFill/>
          <a:ln w="15875">
            <a:solidFill>
              <a:srgbClr val="8EF0FF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611880" y="2926080"/>
            <a:ext cx="457200" cy="0"/>
          </a:xfrm>
          <a:prstGeom prst="line">
            <a:avLst/>
          </a:prstGeom>
          <a:noFill/>
          <a:ln w="15875">
            <a:solidFill>
              <a:srgbClr val="7DD3FC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909560" y="2743200"/>
            <a:ext cx="411480" cy="-411480"/>
          </a:xfrm>
          <a:prstGeom prst="line">
            <a:avLst/>
          </a:prstGeom>
          <a:noFill/>
          <a:ln w="15875">
            <a:solidFill>
              <a:srgbClr val="C2FF66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909560" y="3200400"/>
            <a:ext cx="411480" cy="548640"/>
          </a:xfrm>
          <a:prstGeom prst="line">
            <a:avLst/>
          </a:prstGeom>
          <a:noFill/>
          <a:ln w="15875">
            <a:solidFill>
              <a:srgbClr val="FDE68A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9875520" y="2331720"/>
            <a:ext cx="228600" cy="0"/>
          </a:xfrm>
          <a:prstGeom prst="line">
            <a:avLst/>
          </a:prstGeom>
          <a:noFill/>
          <a:ln w="15875">
            <a:solidFill>
              <a:srgbClr val="7DD3FC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875520" y="3749040"/>
            <a:ext cx="228600" cy="0"/>
          </a:xfrm>
          <a:prstGeom prst="line">
            <a:avLst/>
          </a:prstGeom>
          <a:noFill/>
          <a:ln w="15875">
            <a:solidFill>
              <a:srgbClr val="FDA4AF"/>
            </a:solidFill>
            <a:prstDash val="solid"/>
            <a:headEnd type="non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731520" y="5806440"/>
            <a:ext cx="106984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demo reliability now, production migration later: local JSON/SQLite to Postgres/Supabase, background jobs, org/user scoping.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-1005840"/>
            <a:ext cx="4572000" cy="4572000"/>
          </a:xfrm>
          <a:prstGeom prst="arc">
            <a:avLst/>
          </a:prstGeom>
          <a:noFill/>
          <a:ln w="15240">
            <a:solidFill>
              <a:srgbClr val="8EF0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1371600"/>
            <a:ext cx="5120640" cy="5120640"/>
          </a:xfrm>
          <a:prstGeom prst="arc">
            <a:avLst/>
          </a:prstGeom>
          <a:noFill/>
          <a:ln w="12700">
            <a:solidFill>
              <a:srgbClr val="C2FF66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MISSION CONTROL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script: the judge sees the system think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0" y="3108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D7E91"/>
                </a:solidFill>
              </a:rPr>
              <a:t>AI Software Execution Operating System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8EF0FF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1645920"/>
            <a:ext cx="384048" cy="384048"/>
          </a:xfrm>
          <a:prstGeom prst="ellipse">
            <a:avLst/>
          </a:prstGeom>
          <a:solidFill>
            <a:srgbClr val="8EF0FF"/>
          </a:solidFill>
          <a:ln w="12700">
            <a:solidFill>
              <a:srgbClr val="8E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737360"/>
            <a:ext cx="38404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71600" y="1682496"/>
            <a:ext cx="2331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mission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71600" y="2057400"/>
            <a:ext cx="2331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a live sample: MCP + Antigravity, Hiring Tracker, Incident War Room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80560" y="14630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7DD3FC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5152" y="1645920"/>
            <a:ext cx="384048" cy="384048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1737360"/>
            <a:ext cx="38404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66360" y="1682496"/>
            <a:ext cx="2331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intelligence pass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66360" y="2057400"/>
            <a:ext cx="2331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 move queued to running to completed; logs and artifacts appear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75320" y="14630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C2FF66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9912" y="1645920"/>
            <a:ext cx="384048" cy="384048"/>
          </a:xfrm>
          <a:prstGeom prst="ellipse">
            <a:avLst/>
          </a:prstGeom>
          <a:solidFill>
            <a:srgbClr val="C2FF66"/>
          </a:solidFill>
          <a:ln w="12700">
            <a:solidFill>
              <a:srgbClr val="C2FF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9912" y="1737360"/>
            <a:ext cx="38404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61120" y="1682496"/>
            <a:ext cx="2331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diagrams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961120" y="2057400"/>
            <a:ext cx="2331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flow, traceability, cloud architecture and deployment lanes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" y="37033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FDE68A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3886200"/>
            <a:ext cx="384048" cy="384048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3977640"/>
            <a:ext cx="38404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3922776"/>
            <a:ext cx="2331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documents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71600" y="4297680"/>
            <a:ext cx="2331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PRD, Technical Design, Engineering Plan, AI Execution Pack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80560" y="37033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C4B5FD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5152" y="3886200"/>
            <a:ext cx="384048" cy="384048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3977640"/>
            <a:ext cx="38404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66360" y="3922776"/>
            <a:ext cx="2331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memory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166360" y="4297680"/>
            <a:ext cx="2331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mission and preserve execution knowledge patterns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-1005840"/>
            <a:ext cx="4572000" cy="4572000"/>
          </a:xfrm>
          <a:prstGeom prst="arc">
            <a:avLst/>
          </a:prstGeom>
          <a:noFill/>
          <a:ln w="15240">
            <a:solidFill>
              <a:srgbClr val="8EF0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1371600"/>
            <a:ext cx="5120640" cy="5120640"/>
          </a:xfrm>
          <a:prstGeom prst="arc">
            <a:avLst/>
          </a:prstGeom>
          <a:noFill/>
          <a:ln w="12700">
            <a:solidFill>
              <a:srgbClr val="C2FF66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MISSION CONTROL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Hackathon evaluation alignment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0" y="3108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D7E91"/>
                </a:solidFill>
              </a:rPr>
              <a:t>AI Software Execution Operating System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243584"/>
            <a:ext cx="107899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skill file lists the Codex sponsor direction and prize context, but no formal judging-criteria fields. We align to the stated event thesis: move past chat, orchestrate agents, maximize Codex leverage, and create AI-native UX.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8EF0FF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21992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88920" y="2203704"/>
            <a:ext cx="2606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OS, not another chat/code generator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6217920" y="205740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C2FF66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221992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2F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Thinking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75320" y="2203704"/>
            <a:ext cx="2606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user, problem, workflow, memory and handoff model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364992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Impact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88920" y="3346704"/>
            <a:ext cx="2606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center, cloud diagrams, traceability maps, animations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217920" y="320040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FDE68A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364992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DE6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Sophistication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75320" y="3346704"/>
            <a:ext cx="2606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Next.js, APIs, local persistence, cached docs, fallback generation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" y="434340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C4B5FD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507992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4B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Quality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788920" y="4489704"/>
            <a:ext cx="2606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samples, stepper, stop control, document exports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217920" y="434340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FDA4AF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507992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DA4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Memorability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75320" y="4489704"/>
            <a:ext cx="2606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B8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Judges can say: I saw AI software execution visualized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-1005840"/>
            <a:ext cx="4572000" cy="4572000"/>
          </a:xfrm>
          <a:prstGeom prst="arc">
            <a:avLst/>
          </a:prstGeom>
          <a:noFill/>
          <a:ln w="15240">
            <a:solidFill>
              <a:srgbClr val="8EF0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1371600"/>
            <a:ext cx="5120640" cy="5120640"/>
          </a:xfrm>
          <a:prstGeom prst="arc">
            <a:avLst/>
          </a:prstGeom>
          <a:noFill/>
          <a:ln w="12700">
            <a:solidFill>
              <a:srgbClr val="C2FF66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MISSION CONTROL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Roadmap: from hackathon MVP to execution knowledge base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0" y="3108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D7E91"/>
                </a:solidFill>
              </a:rPr>
              <a:t>AI Software Execution Operating System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14400" y="1965960"/>
            <a:ext cx="3154680" cy="2423160"/>
          </a:xfrm>
          <a:prstGeom prst="roundRect">
            <a:avLst>
              <a:gd name="adj" fmla="val 3019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8EF0FF">
                <a:alpha val="7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240280"/>
            <a:ext cx="914400" cy="301752"/>
          </a:xfrm>
          <a:prstGeom prst="roundRect">
            <a:avLst>
              <a:gd name="adj" fmla="val 24242"/>
            </a:avLst>
          </a:prstGeom>
          <a:solidFill>
            <a:srgbClr val="8EF0FF"/>
          </a:solidFill>
          <a:ln w="12700">
            <a:solidFill>
              <a:srgbClr val="8EF0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308860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11F"/>
                </a:solidFill>
              </a:rPr>
              <a:t>Now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43000" y="2816352"/>
            <a:ext cx="26517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planning, intelligence pass, document studio, caching, diagrams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965960"/>
            <a:ext cx="3154680" cy="2423160"/>
          </a:xfrm>
          <a:prstGeom prst="roundRect">
            <a:avLst>
              <a:gd name="adj" fmla="val 3019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C2FF66">
                <a:alpha val="7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240280"/>
            <a:ext cx="914400" cy="301752"/>
          </a:xfrm>
          <a:prstGeom prst="roundRect">
            <a:avLst>
              <a:gd name="adj" fmla="val 24242"/>
            </a:avLst>
          </a:prstGeom>
          <a:solidFill>
            <a:srgbClr val="C2FF66"/>
          </a:solidFill>
          <a:ln w="12700">
            <a:solidFill>
              <a:srgbClr val="C2FF6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08860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11F"/>
                </a:solidFill>
              </a:rPr>
              <a:t>Next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46320" y="2816352"/>
            <a:ext cx="26517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Fork/compare missions, reusable architecture templates, richer decision logs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21040" y="1965960"/>
            <a:ext cx="3154680" cy="2423160"/>
          </a:xfrm>
          <a:prstGeom prst="roundRect">
            <a:avLst>
              <a:gd name="adj" fmla="val 3019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FDE68A">
                <a:alpha val="7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640" y="2240280"/>
            <a:ext cx="914400" cy="301752"/>
          </a:xfrm>
          <a:prstGeom prst="roundRect">
            <a:avLst>
              <a:gd name="adj" fmla="val 24242"/>
            </a:avLst>
          </a:prstGeom>
          <a:solidFill>
            <a:srgbClr val="FDE68A"/>
          </a:solidFill>
          <a:ln w="12700">
            <a:solidFill>
              <a:srgbClr val="FDE68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2308860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11F"/>
                </a:solidFill>
              </a:rPr>
              <a:t>Later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549640" y="2816352"/>
            <a:ext cx="26517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 workspaces, MCP surface, external project-management sync, evaluation agents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715000"/>
            <a:ext cx="99669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8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long-term product is an organizational memory layer for agentic software execution.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-1005840"/>
            <a:ext cx="4572000" cy="4572000"/>
          </a:xfrm>
          <a:prstGeom prst="arc">
            <a:avLst/>
          </a:prstGeom>
          <a:noFill/>
          <a:ln w="15240">
            <a:solidFill>
              <a:srgbClr val="8EF0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1371600"/>
            <a:ext cx="5120640" cy="5120640"/>
          </a:xfrm>
          <a:prstGeom prst="arc">
            <a:avLst/>
          </a:prstGeom>
          <a:noFill/>
          <a:ln w="12700">
            <a:solidFill>
              <a:srgbClr val="C2FF66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MISSION CONTROL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0" y="3108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D7E91"/>
                </a:solidFill>
              </a:rPr>
              <a:t>AI Software Execution Operating System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77724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Codex Mission Control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13232" y="1828800"/>
            <a:ext cx="7955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Eliminating the gap between thinking about software and executing software.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585216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8C3CF"/>
                </a:solidFill>
              </a:rPr>
              <a:t>• System of record between idea and execution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3CF"/>
                </a:solidFill>
              </a:rPr>
              <a:t>• Production-ready documentation from mission intelligence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3CF"/>
                </a:solidFill>
              </a:rPr>
              <a:t>• Traceable goals, requirements, tasks, architecture and risks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3CF"/>
                </a:solidFill>
              </a:rPr>
              <a:t>• Reusable AI execution context for Codex and future agent workflows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43800" y="1188720"/>
            <a:ext cx="3474720" cy="4389120"/>
          </a:xfrm>
          <a:prstGeom prst="roundRect">
            <a:avLst>
              <a:gd name="adj" fmla="val 2105"/>
            </a:avLst>
          </a:prstGeom>
          <a:solidFill>
            <a:srgbClr val="081421">
              <a:alpha val="97000"/>
            </a:srgbClr>
          </a:solidFill>
          <a:ln w="12700">
            <a:solidFill>
              <a:srgbClr val="C2FF66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F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angle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2331720"/>
            <a:ext cx="274320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code generator.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another chat UI.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AI-native execution control plane that makes software work visible, explainable, and reusable.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85632" y="4709160"/>
            <a:ext cx="1737360" cy="301752"/>
          </a:xfrm>
          <a:prstGeom prst="roundRect">
            <a:avLst>
              <a:gd name="adj" fmla="val 24242"/>
            </a:avLst>
          </a:prstGeom>
          <a:solidFill>
            <a:srgbClr val="8EF0FF"/>
          </a:solidFill>
          <a:ln w="12700">
            <a:solidFill>
              <a:srgbClr val="8EF0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4777740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11F"/>
                </a:solidFill>
              </a:rPr>
              <a:t>Built with Codex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Codex Community Hackathon Pune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 Mission Control - AI Software Execution Operating System</dc:title>
  <dc:subject>Hackathon pitch deck</dc:subject>
  <dc:creator>Codex Mission Control</dc:creator>
  <cp:lastModifiedBy>Codex Mission Control</cp:lastModifiedBy>
  <cp:revision>1</cp:revision>
  <dcterms:created xsi:type="dcterms:W3CDTF">2026-06-14T11:08:15Z</dcterms:created>
  <dcterms:modified xsi:type="dcterms:W3CDTF">2026-06-14T11:08:15Z</dcterms:modified>
</cp:coreProperties>
</file>